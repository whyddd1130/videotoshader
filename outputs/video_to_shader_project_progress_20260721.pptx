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ab41ec170646d0" /><Relationship Type="http://schemas.openxmlformats.org/officeDocument/2006/relationships/extended-properties" Target="/docProps/app.xml" Id="R7c3b1ebf1b634b7d" /><Relationship Type="http://schemas.openxmlformats.org/officeDocument/2006/relationships/officeDocument" Target="/ppt/presentation.xml" Id="R5e4ff8b5bcbc4c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05c3baf604f67"/>
  </p:sldMasterIdLst>
  <p:notesMasterIdLst>
    <p:notesMasterId xmlns:r="http://schemas.openxmlformats.org/officeDocument/2006/relationships" r:id="R725f452351b7495b"/>
  </p:notesMasterIdLst>
  <p:sldIdLst>
    <p:sldId xmlns:r="http://schemas.openxmlformats.org/officeDocument/2006/relationships" id="256" r:id="R445c76f35880494f"/>
    <p:sldId xmlns:r="http://schemas.openxmlformats.org/officeDocument/2006/relationships" id="257" r:id="R5a85289c793f4d97"/>
    <p:sldId xmlns:r="http://schemas.openxmlformats.org/officeDocument/2006/relationships" id="258" r:id="R51479e33ef124be7"/>
    <p:sldId xmlns:r="http://schemas.openxmlformats.org/officeDocument/2006/relationships" id="259" r:id="R39ae3c1017a04ff3"/>
    <p:sldId xmlns:r="http://schemas.openxmlformats.org/officeDocument/2006/relationships" id="260" r:id="R53b3485b9afa4ff7"/>
    <p:sldId xmlns:r="http://schemas.openxmlformats.org/officeDocument/2006/relationships" id="261" r:id="R5dadbc9a86ff4411"/>
    <p:sldId xmlns:r="http://schemas.openxmlformats.org/officeDocument/2006/relationships" id="262" r:id="R4a1a281ccbea4808"/>
    <p:sldId xmlns:r="http://schemas.openxmlformats.org/officeDocument/2006/relationships" id="263" r:id="Rcceab62a6b414587"/>
    <p:sldId xmlns:r="http://schemas.openxmlformats.org/officeDocument/2006/relationships" id="264" r:id="Rfb7c23749b6245c9"/>
    <p:sldId xmlns:r="http://schemas.openxmlformats.org/officeDocument/2006/relationships" id="265" r:id="R821b2ddd71a94295"/>
    <p:sldId xmlns:r="http://schemas.openxmlformats.org/officeDocument/2006/relationships" id="266" r:id="R8b43924369a049c5"/>
    <p:sldId xmlns:r="http://schemas.openxmlformats.org/officeDocument/2006/relationships" id="267" r:id="R942f9c2444b94fce"/>
    <p:sldId xmlns:r="http://schemas.openxmlformats.org/officeDocument/2006/relationships" id="268" r:id="R919397cca9654e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c3439e2344df3" /><Relationship Type="http://schemas.openxmlformats.org/officeDocument/2006/relationships/slideMaster" Target="/ppt/slideMasters/slideMaster1.xml" Id="R8ec05c3baf604f67" /><Relationship Type="http://schemas.openxmlformats.org/officeDocument/2006/relationships/notesMaster" Target="/ppt/notesMasters/notesMaster1.xml" Id="R725f452351b7495b" /><Relationship Type="http://schemas.openxmlformats.org/officeDocument/2006/relationships/presProps" Target="/ppt/presProps.xml" Id="R0cd9770a04404a45" /><Relationship Type="http://schemas.openxmlformats.org/officeDocument/2006/relationships/tableStyles" Target="/ppt/tableStyles.xml" Id="Re1d21263b6974577" /><Relationship Type="http://schemas.openxmlformats.org/officeDocument/2006/relationships/slide" Target="/ppt/slides/slide1.xml" Id="R445c76f35880494f" /><Relationship Type="http://schemas.openxmlformats.org/officeDocument/2006/relationships/slide" Target="/ppt/slides/slide2.xml" Id="R5a85289c793f4d97" /><Relationship Type="http://schemas.openxmlformats.org/officeDocument/2006/relationships/slide" Target="/ppt/slides/slide3.xml" Id="R51479e33ef124be7" /><Relationship Type="http://schemas.openxmlformats.org/officeDocument/2006/relationships/slide" Target="/ppt/slides/slide4.xml" Id="R39ae3c1017a04ff3" /><Relationship Type="http://schemas.openxmlformats.org/officeDocument/2006/relationships/slide" Target="/ppt/slides/slide5.xml" Id="R53b3485b9afa4ff7" /><Relationship Type="http://schemas.openxmlformats.org/officeDocument/2006/relationships/slide" Target="/ppt/slides/slide6.xml" Id="R5dadbc9a86ff4411" /><Relationship Type="http://schemas.openxmlformats.org/officeDocument/2006/relationships/slide" Target="/ppt/slides/slide7.xml" Id="R4a1a281ccbea4808" /><Relationship Type="http://schemas.openxmlformats.org/officeDocument/2006/relationships/slide" Target="/ppt/slides/slide8.xml" Id="Rcceab62a6b414587" /><Relationship Type="http://schemas.openxmlformats.org/officeDocument/2006/relationships/slide" Target="/ppt/slides/slide9.xml" Id="Rfb7c23749b6245c9" /><Relationship Type="http://schemas.openxmlformats.org/officeDocument/2006/relationships/slide" Target="/ppt/slides/slide10.xml" Id="R821b2ddd71a94295" /><Relationship Type="http://schemas.openxmlformats.org/officeDocument/2006/relationships/slide" Target="/ppt/slides/slide11.xml" Id="R8b43924369a049c5" /><Relationship Type="http://schemas.openxmlformats.org/officeDocument/2006/relationships/slide" Target="/ppt/slides/slide12.xml" Id="R942f9c2444b94fce" /><Relationship Type="http://schemas.openxmlformats.org/officeDocument/2006/relationships/slide" Target="/ppt/slides/slide13.xml" Id="R919397cca9654e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897a4d34b46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776a5592d46b9" /><Relationship Type="http://schemas.openxmlformats.org/officeDocument/2006/relationships/notesMaster" Target="/ppt/notesMasters/notesMaster1.xml" Id="Rd1fa224b6a7e4c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dd5299330d4f52" /><Relationship Type="http://schemas.openxmlformats.org/officeDocument/2006/relationships/notesMaster" Target="/ppt/notesMasters/notesMaster1.xml" Id="R2174a43e592e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fd19f20e1e46e0" /><Relationship Type="http://schemas.openxmlformats.org/officeDocument/2006/relationships/notesMaster" Target="/ppt/notesMasters/notesMaster1.xml" Id="R5a82086e6eda43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0941cd82e149b2" /><Relationship Type="http://schemas.openxmlformats.org/officeDocument/2006/relationships/notesMaster" Target="/ppt/notesMasters/notesMaster1.xml" Id="Rf259c906bf4447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e9b0c6803748e4" /><Relationship Type="http://schemas.openxmlformats.org/officeDocument/2006/relationships/notesMaster" Target="/ppt/notesMasters/notesMaster1.xml" Id="R57b84cf057a345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4b5dc2aede4321" /><Relationship Type="http://schemas.openxmlformats.org/officeDocument/2006/relationships/notesMaster" Target="/ppt/notesMasters/notesMaster1.xml" Id="R526cd40f7b8f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206772236949fd" /><Relationship Type="http://schemas.openxmlformats.org/officeDocument/2006/relationships/notesMaster" Target="/ppt/notesMasters/notesMaster1.xml" Id="R018c5604fc6f41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7464b087c4239" /><Relationship Type="http://schemas.openxmlformats.org/officeDocument/2006/relationships/notesMaster" Target="/ppt/notesMasters/notesMaster1.xml" Id="R7c6c8a8d558244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a538fd8e8340dd" /><Relationship Type="http://schemas.openxmlformats.org/officeDocument/2006/relationships/notesMaster" Target="/ppt/notesMasters/notesMaster1.xml" Id="R4a3dcba4ba1448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a3b087c45d40c4" /><Relationship Type="http://schemas.openxmlformats.org/officeDocument/2006/relationships/notesMaster" Target="/ppt/notesMasters/notesMaster1.xml" Id="R586d5dde8fdb4a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06385be87f4b18" /><Relationship Type="http://schemas.openxmlformats.org/officeDocument/2006/relationships/notesMaster" Target="/ppt/notesMasters/notesMaster1.xml" Id="R1170c61eccb342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3720178ce54a91" /><Relationship Type="http://schemas.openxmlformats.org/officeDocument/2006/relationships/notesMaster" Target="/ppt/notesMasters/notesMaster1.xml" Id="Rfe921243e7544e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58cc879ff34c71" /><Relationship Type="http://schemas.openxmlformats.org/officeDocument/2006/relationships/notesMaster" Target="/ppt/notesMasters/notesMaster1.xml" Id="Rd38b01ad80b049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995cffa2749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024b2b25e426a" /><Relationship Type="http://schemas.openxmlformats.org/officeDocument/2006/relationships/slideLayout" Target="/ppt/slideLayouts/slideLayout1.xml" Id="Rb35b1dae5579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b1dae5579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11022486d467f" /><Relationship Type="http://schemas.openxmlformats.org/officeDocument/2006/relationships/notesSlide" Target="/ppt/notesSlides/notesSlide1.xml" Id="Rdf2f367a565542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714a4241d4fe9" /><Relationship Type="http://schemas.openxmlformats.org/officeDocument/2006/relationships/image" Target="/ppt/media/image.png" Id="R1cf9dd38aeac4a7f" /><Relationship Type="http://schemas.openxmlformats.org/officeDocument/2006/relationships/notesSlide" Target="/ppt/notesSlides/notesSlide2.xml" Id="R6246dd38cc7b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7ff5ac3e54e53" /><Relationship Type="http://schemas.openxmlformats.org/officeDocument/2006/relationships/notesSlide" Target="/ppt/notesSlides/notesSlide3.xml" Id="Rac617ea2ea044f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1264ffcb24857" /><Relationship Type="http://schemas.openxmlformats.org/officeDocument/2006/relationships/image" Target="/ppt/media/image2.png" Id="Re5c062a647264e54" /><Relationship Type="http://schemas.openxmlformats.org/officeDocument/2006/relationships/notesSlide" Target="/ppt/notesSlides/notesSlide4.xml" Id="Re870dddedc9c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e9a115b064384" /><Relationship Type="http://schemas.openxmlformats.org/officeDocument/2006/relationships/notesSlide" Target="/ppt/notesSlides/notesSlide5.xml" Id="Rceca1bafdbb84a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0755e905548b8" /><Relationship Type="http://schemas.openxmlformats.org/officeDocument/2006/relationships/notesSlide" Target="/ppt/notesSlides/notesSlide6.xml" Id="Re302e863d85b45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79815fe0a404e" /><Relationship Type="http://schemas.openxmlformats.org/officeDocument/2006/relationships/notesSlide" Target="/ppt/notesSlides/notesSlide7.xml" Id="R50fbfac2491442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9598c923a456c" /><Relationship Type="http://schemas.openxmlformats.org/officeDocument/2006/relationships/image" Target="/ppt/media/image3.png" Id="Re6daa4d6410e466b" /><Relationship Type="http://schemas.openxmlformats.org/officeDocument/2006/relationships/image" Target="/ppt/media/image4.png" Id="R52e38dc42fca4e4f" /><Relationship Type="http://schemas.openxmlformats.org/officeDocument/2006/relationships/image" Target="/ppt/media/image5.png" Id="Re01f19a2704c4d63" /><Relationship Type="http://schemas.openxmlformats.org/officeDocument/2006/relationships/notesSlide" Target="/ppt/notesSlides/notesSlide8.xml" Id="R70cf5d1cf3da4d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ccd44ecf4161" /><Relationship Type="http://schemas.openxmlformats.org/officeDocument/2006/relationships/image" Target="/ppt/media/image6.png" Id="R13080a06c5794952" /><Relationship Type="http://schemas.openxmlformats.org/officeDocument/2006/relationships/image" Target="/ppt/media/image7.png" Id="R0c80edb302534170" /><Relationship Type="http://schemas.openxmlformats.org/officeDocument/2006/relationships/image" Target="/ppt/media/image8.png" Id="R0a317a37c1f244c0" /><Relationship Type="http://schemas.openxmlformats.org/officeDocument/2006/relationships/image" Target="/ppt/media/image9.png" Id="R52aafc2976dd402c" /><Relationship Type="http://schemas.openxmlformats.org/officeDocument/2006/relationships/notesSlide" Target="/ppt/notesSlides/notesSlide9.xml" Id="R784706207b4942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b74713b6a44f1" /><Relationship Type="http://schemas.openxmlformats.org/officeDocument/2006/relationships/notesSlide" Target="/ppt/notesSlides/notesSlide10.xml" Id="Ra3b6c2e2e85b45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27e64d67d43a4" /><Relationship Type="http://schemas.openxmlformats.org/officeDocument/2006/relationships/notesSlide" Target="/ppt/notesSlides/notesSlide11.xml" Id="Ra4e9a5bd2fe247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af963319548b6" /><Relationship Type="http://schemas.openxmlformats.org/officeDocument/2006/relationships/notesSlide" Target="/ppt/notesSlides/notesSlide12.xml" Id="R22d3b0d866b94b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8c643a2ba45d5" /><Relationship Type="http://schemas.openxmlformats.org/officeDocument/2006/relationships/notesSlide" Target="/ppt/notesSlides/notesSlide13.xml" Id="Rc75183871af847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D2DF6-DF39-4842-A5A4-18A51833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A3233-FF17-4434-8DB9-60388C7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视频特效到可执行 Shader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71071-FDBB-47B2-885B-A01E32D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以视觉理解、结构化编辑计划与闭环渲染迭代，复现目标视频中的动态视觉变化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1194F-B5AA-4F12-AA16-D0F832B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489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EC9F0-6ABE-4CDE-8A56-BB175251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104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2721C-7C06-4CF3-BE3B-08E426F5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项目阶段汇报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957E4-BFBE-49AD-A5A0-4F869E42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14700"/>
            <a:ext cx="10668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368BF-09E3-4E8E-BDA7-F93F721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62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rPr>
              <a:t>2026.07.21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C16E5-285D-4146-9DDE-9C5DCCF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核心命题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FD604-60D6-439F-A41A-6BFC2E8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不是匹配单帧像素，而是让生成的 shader 复现“画面如何随时间变化”。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DE98A-ADC7-4DA1-9C2D-C4A93F2A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输入：原图 + 目标视频   ｜   输出：可运行 GLSL + 多轮渲染结果 + 视觉审查记录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FB6D7-5B02-40C4-9A34-4DD7ADA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38200"/>
            <a:ext cx="23050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AE604-62F2-433C-8264-A8AD21FC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6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当前阶段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F91C7-7C1D-4039-87C6-35C85B15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57350"/>
            <a:ext cx="171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从</a:t>
            </a:r>
          </a:p>
          <a:p xmlns:a="http://schemas.openxmlformats.org/drawingml/2006/main">
            <a:pPr algn="l">
              <a:def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“库检索生成”</a:t>
            </a:r>
          </a:p>
          <a:p xmlns:a="http://schemas.openxmlformats.org/drawingml/2006/main">
            <a:pPr algn="l">
              <a:def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走向</a:t>
            </a:r>
          </a:p>
          <a:p xmlns:a="http://schemas.openxmlformats.org/drawingml/2006/main">
            <a:pPr algn="l">
              <a:def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“可执行计划驱动</a:t>
            </a:r>
          </a:p>
          <a:p xmlns:a="http://schemas.openxmlformats.org/drawingml/2006/main">
            <a:pPr algn="l">
              <a:def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的闭环优化”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A1EB8-5BEB-4CEF-AE4F-BAA841B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9394E-54BD-4EC6-9D0F-C976430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7195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已具备</a:t>
            </a:r>
          </a:p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• IR 检索</a:t>
            </a:r>
          </a:p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• 5 轮迭代</a:t>
            </a:r>
          </a:p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• 视觉评分</a:t>
            </a:r>
          </a:p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• 黑场/合成合约</a:t>
            </a:r>
          </a:p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• 多输入探针</a:t>
            </a:r>
          </a:p>
        </p:txBody>
      </p:sp>
    </p:spTree>
    <p:extLst>
      <p:ext uri="{BB962C8B-B14F-4D97-AF65-F5344CB8AC3E}">
        <p14:creationId xmlns:p14="http://schemas.microsoft.com/office/powerpoint/2010/main" val="1378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EB760-C4E3-41B7-850D-73A15052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35398-E409-44E4-B29E-474B6A7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难点在于：特效是一个过程，而不是一张结果图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585F-A41C-4667-A5E3-A08EBF2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A8BEF-3DE8-4908-A8A2-33EE809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46433-F5D3-4374-BE7D-46C639B0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传统图像相似度很难指导动态 shader 的生成：同样的颜色可能掩盖了完全不同的空间运动。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5B6C4-7C41-4FD0-9886-0C0CC0E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340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E97A1-8AF0-455C-B04D-342B5D8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076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6E441-CE08-4A62-AD2C-CA1B1F6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B5BE9-6FB3-4A94-A62D-965BB95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动态结构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5B4C1-D13A-449D-B7E4-74F571A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翻转、缩放、裁切、遮罩和时序共同决定效果；单帧不够。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05836-7848-4759-B6E9-8B4A64F5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38450"/>
            <a:ext cx="2076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C6BF6-80AD-4B56-B965-A116F13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48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08007-69C8-4AA7-BF72-F2F41FF4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可执行代码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1E8AA-4064-4920-B6F0-A9C19DF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433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模型要把观察转为稳定的 GLSL，而非只给描述或标签。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7613D-C265-4503-9D4E-0106A103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38450"/>
            <a:ext cx="2076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03FCF-90ED-49C5-9930-77A655C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2E867-E7F7-495D-BF7C-D3AAB15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人眼一致性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93549-7D46-4A6D-9577-F9E6226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433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颜色误差小不代表效果相似；空间变化往往更容易被人眼察觉。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0F462-04E9-4351-8ABC-29B2269D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9dd38aeac4a7f"/>
          <a:srcRect xmlns:a="http://schemas.openxmlformats.org/drawingml/2006/main" l="11408" t="0" r="114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638300"/>
            <a:ext cx="3028950" cy="3924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6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2E9DFE-5519-4196-918E-7F32524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数据与库侧基础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CF9A6-FF58-4687-B6B6-A4216932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先把“可参考的特效”转为可检索、可组合的视觉资产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35A8A-B1C1-412B-8FEB-3E4DE74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2FD50-FCE3-4691-8DB6-3A7A2F88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72B1D-5468-417E-84F4-A99AF15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库不是直接复用源码的集合，而是为首轮生成提供语义锚点与原子操作参考。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89E55-1499-4217-A1D1-96B8EEFD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581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13979-7667-4A47-85F3-5814EDE1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328AD-7134-4E8B-95CB-C9FB1E5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已渲染训练视频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3BACE-BBCC-437E-86EC-794BF949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05050"/>
            <a:ext cx="1581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BB1A4-72C4-4433-A1F9-C6D20830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146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AAB63-2ED7-4227-A6DB-7DE5AD69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原始库侧特效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4F9E2-6850-4398-88E9-249DB18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05050"/>
            <a:ext cx="1581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CB0ED-E1E9-45F5-87BA-8F9A6C0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146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70CC2-D990-4FAA-A9A4-C31C9A2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基础输入变体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FBCF2-663A-4A40-A7A4-F84CF2B6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05050"/>
            <a:ext cx="1581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AFC2B-6BB3-4DA9-8F45-E283EF79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97663-F2EE-4E16-9C28-0D6987B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视觉操作类别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9F36E-A3AB-4275-8279-92E6064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当前类别划分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98E3B-DB15-47D8-BBA2-F34588F1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67B07-BCA5-4BC2-B960-E2C85D1F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几何/形变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67FC9-9902-42AE-87FD-C04CDF9F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BezierWarp · Bulge · Transform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646E8-F1DD-4135-A73A-4FC11F2C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33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0EFA3-9DED-433D-83B6-5B5A9AE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颜色/通道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B1A84-297B-4D38-8ED7-33C2983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29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Lumetri · ShiftChannels · Invert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7C2D0-6F6B-479F-9F84-4DDF81E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33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F5926-E167-4C2C-8EF9-05B1213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模糊/散景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0562E-BD35-4EC2-9E50-04194671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29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Bokeh · motionBlur · SurfaceBlur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8B5B8-8C05-4791-B587-5C5C4270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09B0A-6435-428F-A4FC-66EC9A1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遮罩/合成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386C4-C9DE-44E4-BC08-FEB6861C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72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GradientWipe · Progress · LayerMask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9EB08-104E-4A0D-A814-8567876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76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46149-F0CA-4CCA-B5AA-CCCE2557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72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像素/纹理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D48A49-973B-4BBC-933A-419D154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72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LowPixel · Newsprint · Mosaic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02F3F7-4B0F-4852-9840-DE665456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76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80E42E-1EC4-4F85-B50A-E58D29A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72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边缘/光效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BAC9A2-CD87-4EB8-AE75-2D14D65A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72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Outline · EdgeGlow · CCLightSweep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12C99C-980A-4827-9395-DE4B112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数据来源：项目 README、库侧 IR 分类汇总</a:t>
            </a:r>
          </a:p>
        </p:txBody>
      </p:sp>
    </p:spTree>
    <p:extLst>
      <p:ext uri="{BB962C8B-B14F-4D97-AF65-F5344CB8AC3E}">
        <p14:creationId xmlns:p14="http://schemas.microsoft.com/office/powerpoint/2010/main" val="1128382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410AF-0DD8-4526-9509-BFDBDD79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当前系统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569A-25E3-4E1A-AF3C-9C933E43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从原图与目标视频出发，形成可审查的 5 轮生成闭环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8039F-64CC-4A05-9203-19CC8A9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481ED-E6ED-430D-B8F5-0FAC94D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72A94-CE1E-43EE-A21A-FB352D03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主链路已从“直接让模型重写 shader”升级为“视觉观察 → 编辑计划 → 稳定生成 → 视觉审查”。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062a647264e54"/>
          <a:stretch xmlns:a="http://schemas.openxmlformats.org/drawingml/2006/main"/>
        </p:blipFill>
        <p:spPr>
          <a:xfrm xmlns:a="http://schemas.openxmlformats.org/drawingml/2006/main">
            <a:off x="1384618" y="2209800"/>
            <a:ext cx="533654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E30C4-B012-4422-B2F4-F06CA01B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143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8D5D3-4589-42EF-B9FB-E60EFE7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关键输出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772C4-DF9C-4DCB-BD0A-22936FE3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0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DCAD3-D466-43AF-B4AA-082B9AA5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33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9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每轮：渲染视频、shader 源码、审查意见、下一轮 edit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7D84E-3BAC-4476-B5BB-511FB123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5BD2D-B620-4003-9642-50A76A5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8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固定 5 轮，保留中间产物，可回看优化方向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551ED-B410-4270-8C78-EF676F2C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CC985-8977-41DE-ADD5-4F92248D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72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6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LLM 评分用于记录与排序，不再作为停止条件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29A4F-913A-4198-8A88-2AD49E90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实现入口：effect_ir_pipeline/effect_ir/closed_loop_shader_iter.py</a:t>
            </a:r>
          </a:p>
        </p:txBody>
      </p:sp>
    </p:spTree>
    <p:extLst>
      <p:ext uri="{BB962C8B-B14F-4D97-AF65-F5344CB8AC3E}">
        <p14:creationId xmlns:p14="http://schemas.microsoft.com/office/powerpoint/2010/main" val="2132945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F6E36-2451-4E45-92BA-51BA3456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核心思路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F60D5-8FDC-4481-B5E9-54D21F96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让大模型“看懂差异”，让 builder / code model“落实差异”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C2D88-C660-4FB7-87DA-CCF51F6F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C9B06-D081-4D2B-876B-B899BF1A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B56F4-CE3B-4676-A6AF-9E7482DE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962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FB6EC-7F5A-4FA6-B321-A745E63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4A457-0BFC-4648-ACD9-670C14F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4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原图 + 目标视频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B60ED-FEDC-4967-A76E-8B594FD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采样关键帧并描述变化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27577-6195-4ED6-82D7-D16F580C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4715F-4C7D-42D1-A994-B4BBB7E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66950"/>
            <a:ext cx="1962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DCC64-E621-4042-982F-90E964A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BE4CB-FE24-4216-91BD-2791EF1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目标 IR / 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BC975-259C-4504-945E-A8F590C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004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匹配视觉家族；排除自身参考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CC6CB-4E95-4A30-998A-429D2BF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497AA-9024-437E-B73F-F8E99D5D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962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F03A2-410A-4310-94A5-7E78A42F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703B6-85B4-4A05-9F49-4CCB1F1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95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编辑计划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02DDF-52C4-421C-A826-E9F46160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确定主优先级、区域、时序与合成规则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8D52D-3B62-4C62-BF72-435971C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75673-2BE6-446F-A1B7-FD84A69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1962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34603-46B4-4103-8753-975EE7FD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B2927-C3F6-4FBA-ADF4-C072C422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生成 Shader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1AD5C-3098-45FF-9BCA-B0AC17B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程序化 draft + code model 可大幅改写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7ED56-070F-4701-B05B-2683E059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1E18F-F1EE-4406-A86B-5784703B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962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84B5E-1BEF-4962-BE23-E222935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D06F3-65A8-4430-B3AE-5D8770F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渲染与审查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30D71-D7CD-415F-904E-12D13C67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对照目标视频；输出下一轮必须落实的变化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ADC43-C0B8-4819-80A0-2D9F7D96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56EFA-5C6E-41B5-94AF-9943173C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设计原则：审查语言优先描述“画面发生了什么”，计划负责把这种观察变成可执行操作；当空间运动未成立时，禁止用颜色微调掩盖问题。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92AFF-1CD0-4D87-B222-5F74037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</p:spTree>
    <p:extLst>
      <p:ext uri="{BB962C8B-B14F-4D97-AF65-F5344CB8AC3E}">
        <p14:creationId xmlns:p14="http://schemas.microsoft.com/office/powerpoint/2010/main" val="1757865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48D86-9028-48C4-85A2-5FA56E58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迭代机制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833FE-5683-44BA-A058-FE96862B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每轮先解决阻塞性特征，再处理次要外观差异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3EB86-CF3B-40E3-8BAB-B18F27DA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7579-EA31-4386-A57D-1BF21A18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3A872-3D30-4DB5-98D2-A7F292F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1BF56-1F4B-4639-B168-6CF53F01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视觉审查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8190C-201B-454D-BE0E-E89D418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5406D-4B7F-44CC-A10C-4048EF17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目标与候选画面各发生了什么？</a:t>
            </a:r>
          </a:p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最关键的一个差距是什么？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2751B-B95A-4EF9-856C-F6F9E10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避免把差异简化成抽象标签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E158C-D86F-4FF6-B48A-8D5B923F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29885-AB63-4DD8-BD65-D30BB046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optimization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C6DC9-41B7-4280-9B19-77DCCA3D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78A9D-C59B-4CF0-A53F-A14DB29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blocking_dimensions</a:t>
            </a:r>
          </a:p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primary_focus</a:t>
            </a:r>
          </a:p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required_change</a:t>
            </a:r>
          </a:p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appearance_edits_allowed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DA03B-B600-4CB0-99FE-87D8B186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明确本轮唯一必须落实的变化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1C8A0-AD87-428A-A7A4-8C190619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FD775-BBBD-42A0-A042-99A27B3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primitive / edit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2CF7A-A922-4BB2-9CBA-05AF62B0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F9101-98C2-4A34-B557-035D653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空间变换、区域、时序、合成模式、背景策略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46D76-B653-4220-A327-B03EB74F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为 builder 与 code model 提供落地接口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3BCB1-90D8-4340-AE62-5970E59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优先级顺序（当前默认）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2E991-E6E9-4AA5-A93B-444C8248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几何 / 运动  →  作用区域  →  合成与背景  →  外观（颜色、亮度、纹理、模糊）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0CE58-D93B-4862-8943-464060A0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</p:spTree>
    <p:extLst>
      <p:ext uri="{BB962C8B-B14F-4D97-AF65-F5344CB8AC3E}">
        <p14:creationId xmlns:p14="http://schemas.microsoft.com/office/powerpoint/2010/main" val="989334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43090-0672-481F-9BFE-D64A7B34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稳定性修复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3B55B-1809-4033-9828-D9BE193E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把“看起来对的计划”变成不能被安全层改坏的渲染合约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3D3E7-A82C-416A-999C-3BF2FDEF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DE76B-925F-4A06-936B-752BCEBC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A9018-56BD-4A30-97E3-EB0A1B6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此前黑场目标会被通用修复逻辑改回“原图持续铺底”。现在合成模式和背景策略成为可检查的显式约束。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48559-D2A1-483F-AFBB-50F8A1EE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8AFF2-7614-46CD-9BFE-C8B84E7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合成模式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A4340-CD05-47A1-811D-8088CF5D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replace_source / overlay_source / blend_source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A2649-F7BB-4EA3-9E3F-0F86F17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规定特效结果与原图如何组合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1EB9E-CC51-49B9-B6FE-73621CE7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30471-0888-4121-9711-2391560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背景策略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2FFC1-D06E-41E2-9B81-05271376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初始画布 · 区域外填充 · 原图可见范围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3BABF-32BB-4471-94FB-C1898EC5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区分黑场起步、原图起步与局部显现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CA5E0-9E1A-4287-9612-6FAD20B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861B5-D900-474C-87E2-ABF21CF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合约检查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9C7AA-DF1F-4D70-A08B-28E4FB6B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代码计划一致性 + 首帧黑场校验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5A639-2C00-41BD-BA6F-0B61DA4D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不符合目标的生成尝试不计入迭代轮次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24477-29DF-4856-B32A-35AA82B4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0801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D4F78-C5C0-4234-A20F-B696F812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示例：若目标首帧为黑场，则 shader 必须以黑画布初始化，只在“变换后的有效区域”显示原图；禁止把完整原图重新混回背景。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3AB63-B2CE-4B2F-BFC1-E8122826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</p:spTree>
    <p:extLst>
      <p:ext uri="{BB962C8B-B14F-4D97-AF65-F5344CB8AC3E}">
        <p14:creationId xmlns:p14="http://schemas.microsoft.com/office/powerpoint/2010/main" val="1039303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38CBB-DFA5-4CD3-9EA3-82DB4C47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最新验证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4512E-B25C-4F96-ACB0-38EBFE2B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8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EyesSticker rg_split：黑场问题已修复，几何轨迹仍是主要瓶颈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6FB8A-80F0-40F6-8F94-A1E8B098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9AC27-2F17-42A6-B016-DA3A4DE1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BCAE9-C28F-4386-A077-6040FF5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整体主观相似度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9532B-8359-42C4-8F11-9957E1F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17469-97F3-4E96-9E1B-4542318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0C5A4-C60F-411A-9A67-48E134D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86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1 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82146-A8C1-4D20-BA1E-25370775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666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DDFF0-08A8-4D04-B52E-C86FFF8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2D81F-CF82-44E1-8A0B-3D1C3A7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2 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009F1-B0E2-44FE-A879-5E3FF574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666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98AB9-3021-4542-BA5F-D65FBA7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C164E-8DBE-4EA4-A5CD-F564B9F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86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3 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E965A-FA38-42CF-89A7-0ABBBA30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62225"/>
            <a:ext cx="66675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C7BC6-3E6C-4D8D-90B8-6491035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76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A635B-D15A-4199-B114-C3468141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86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4 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66CB4-0337-4C02-94C6-AE352451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666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47124-2A69-46B6-A507-4B70C94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422DB-7DBC-4A12-936C-913BC87F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5 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3DC67-B22A-49F9-8D19-9BACBB8E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C581F-09F5-4873-8254-EF1242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最佳：第 3 轮（72）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8D1BB-39F1-4C56-91FA-21836A8E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主要进展：黑底、硬边、旋转与局部→全局覆盖关系被识别；</a:t>
            </a:r>
          </a:p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主要误差：中后段平移轨迹与覆盖节奏仍不一致。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aa4d6410e46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752600"/>
            <a:ext cx="1352550" cy="13525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38dc42fca4e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1752600"/>
            <a:ext cx="1352550" cy="13525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f19a2704c4d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75260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385CE-B930-4D9E-BE88-D35AACBB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目标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C97F0-0417-40B7-9CB8-1B785560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1 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50D11-9F9E-43BF-B696-A0572A1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第 3 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899AD-2BDC-41B6-8614-BD6D7A10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362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8779C-4703-4DAF-B99C-C05021A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审查结论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B27DB-3A92-4926-A849-7214FC0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3829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“当前已属于同一种黑底硬边旋转采样效果；但中后段平移轨迹错误，尚不应进入颜色或纹理精修。”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A3ABC-B46B-42EC-91CD-39EDEFB0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数据：20260720 / EyesSticker_rg_split_black_contract</a:t>
            </a:r>
          </a:p>
        </p:txBody>
      </p:sp>
    </p:spTree>
    <p:extLst>
      <p:ext uri="{BB962C8B-B14F-4D97-AF65-F5344CB8AC3E}">
        <p14:creationId xmlns:p14="http://schemas.microsoft.com/office/powerpoint/2010/main" val="1927812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2FB42-42ED-443A-9749-6EAC9697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输入图策略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969F2-45C2-4067-AB49-1657BF1D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单一输入图不足以展示所有 shader：需要互补的探针组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448F3-D867-4F40-AFCC-3C24D435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809F9-0896-484E-AFD2-8C1CB1D1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63F64-C635-4BD0-88E9-0600F4A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0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同一 shader 在不同输入图上可见性差异很大。输入图既要暴露变化，也不能因语义过复杂而干扰审查。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80a06c57949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381250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0edb3025341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28950" y="2381250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17a37c1f244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2381250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afc2976dd40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381250"/>
            <a:ext cx="2305050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FA446-57F7-40ED-9D35-E053ED90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主体与局部效果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54EEC-ABA3-4762-81EC-E8B9B0EA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577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色相 / 饱和度 / 调色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5FD3C-8BAB-4973-A49A-1A078EF0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577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亮度 / 形变参照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515A1-0D3A-444F-9323-B6B28052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裁切 / 翻转 / 位移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9B2A9-CFE1-4EEF-B670-30C32C4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EEF04-71D5-4DD1-AA85-FF621C6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筛选原则：为每个库侧 shader 保留 1–3 张最能展示核心变化的输入图，而不是追求一张“全局最好”的图。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AF29A-DB98-4C88-B619-D09177B9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输入探针目录：input_images/test_images</a:t>
            </a:r>
          </a:p>
        </p:txBody>
      </p:sp>
    </p:spTree>
    <p:extLst>
      <p:ext uri="{BB962C8B-B14F-4D97-AF65-F5344CB8AC3E}">
        <p14:creationId xmlns:p14="http://schemas.microsoft.com/office/powerpoint/2010/main" val="671146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EC3F8-92B4-4C56-997D-AC62CD1B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阶段进度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DA3A2-A49B-4B5B-9D13-A9F5A8CB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从“可跑通”到“可诊断”：关键能力已逐步落地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64BB-B29C-4C55-A556-8E5E66F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8A8D5-C8D4-4C40-A67A-EB9790BF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D19A5-A8B1-4AE2-818F-0F382FB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39D31-F083-482A-8B97-C4655915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输入接口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0C24-704D-46A6-9F5B-F30BF42E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0450D-A2DC-40F2-8824-2240582D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由“默认首帧”改为显式输入原图 + 目标视频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2A7AA-9407-4B9A-8AB3-C7ACE43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7D63B-3D7D-4229-A9FC-1DE665A9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库侧 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5D172-B156-43C1-8075-A0E602C6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rPr>
              <a:t>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BAE9-47F1-451D-8471-85F7186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统一 effect_name、分类/原子性标记、单 pass 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23A64-AAF3-443B-9222-9022C3E3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82F2A-5446-49A9-856C-C8306473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首轮生成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5FBFB-B9D1-400F-8BB8-3C1B533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19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rPr>
              <a:t>已完成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95BCC-88AA-467C-A101-41FF15A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库参考 + IR；支持自匹配排除的消融实验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584D3-D8FD-4C15-9511-563D8B5F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DCDC4-CF8C-4368-8239-6562BA0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闭环迭代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DE8DC-3A68-4C71-A64D-005624BA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67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rPr>
              <a:t>已完成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2AC59-C6A0-4B9C-8328-ABD8F29B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67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固定 5 轮；每轮保存视频、审查、计划与源码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074A1-A96A-48B2-8134-ADEBC8D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A1D53-319B-4AAD-95F2-6D79901C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执行稳定性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3D3F8-0185-4FF6-833A-72D7D254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14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rPr>
              <a:t>已完成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AA5C5-5F79-44E3-B331-73D93A14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14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生成失败重试；黑场/合成计划一致性校验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2DA7D-3E94-44FB-BDCB-F99DFB08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CE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B3D30-1025-4020-9113-97719F2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优化导向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7172C-5852-4EE1-85FE-DD927F0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625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C8A67"/>
                </a:solidFill>
                <a:latin typeface="Helvetica Neue"/>
                <a:ea typeface="Helvetica Neue"/>
                <a:cs typeface="Helvetica Neue"/>
              </a:rPr>
              <a:t>已完成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B1C8A-EAFD-4D32-8353-51DB2A38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LLM 评分与 optimization priority 驱动下一轮修改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E251C6-8CBF-4E16-AC63-151C719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</p:spTree>
    <p:extLst>
      <p:ext uri="{BB962C8B-B14F-4D97-AF65-F5344CB8AC3E}">
        <p14:creationId xmlns:p14="http://schemas.microsoft.com/office/powerpoint/2010/main" val="2141157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0BF8A-0FC2-4DE0-8D42-893FFE03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当前瓶颈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60F2E-5910-4F9D-8C98-5565F49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2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系统已能识别许多差异，但“建议 → 代码 → 动态结果”仍会断链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CF42C-1F52-4EDB-876B-621E680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B465-D1E0-43B4-917E-6CFE4EC4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9E30C-7F6A-4795-BFE7-384408E9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6AAEB-01ED-493A-957C-E664A02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A7182-E5DD-47A4-A1D4-F3FE02E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空间变化被低估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51F9F-931A-49CD-A947-318AB70D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模型更容易拟合颜色/亮度；人眼却常更在意拉伸、翻转、覆盖范围与运动轨迹。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0F3F7-91E0-42C0-94AC-E91CC919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23FC-31E2-421F-B758-BBD13C2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A0B34-DEF1-4E82-93E3-1A6A6D9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计划执行不充分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CA976-0BCC-41CD-B791-310210E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edit plan 描述正确时，生成代码仍可能只做小 patch，未真正改掉主过程。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7A8F8-4CE4-4D4B-9E82-554E3F9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EF308-97EC-4C8E-AE41-ABBE5685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1BB2B-C5D9-4825-BB0D-E200383A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检索粒度不足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2DB23-3DAE-4AF5-A67D-37257AE9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复杂特效被错误映射到相近但方向不同的库侧 shader；原子操作尚不够完整。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37478-46C2-43FA-AB7D-98441E7F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F0DBD-DE00-427A-A737-36F9A90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99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93BBC-3A8A-4EF7-990C-AA0231F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输入图依赖强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9C463-D2E6-42D5-A3DE-7D141F2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同一特效在不同素材上可见性不同；单图评估会误判无效或相似。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7F90E-E3CE-4C1A-817D-CB00307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58BB1-08B2-4F06-B35B-E370F813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结论：下一阶段的重心不应再放在“如何挑最高分”，而应放在“如何验证并强制执行本轮最关键的动态修改”。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9387A-3EAB-4F7F-A302-99CEF7A6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</p:spTree>
    <p:extLst>
      <p:ext uri="{BB962C8B-B14F-4D97-AF65-F5344CB8AC3E}">
        <p14:creationId xmlns:p14="http://schemas.microsoft.com/office/powerpoint/2010/main" val="12193531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95ED3-2C4D-45FD-BD31-7C51CEA9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后续方向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C616-3FF7-4B2A-ADDA-E7437A69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后续收敛：空间过程优先、可执行性优先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0D403-FD43-4125-9F15-2F236E7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39EA7-D372-46F4-991E-71091965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2FF8A-9B5B-4736-8680-A2D17D87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438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0BA7B-C1CD-436F-935C-8ADF636F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01｜执行层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50874-8376-4581-96A2-E2346E29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000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把 edit plan 编译为可验证约束：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关键帧、运动曲线、区域覆盖、合成策略。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代码生成后自动检查是否真正落实。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58861-C1C9-4ED2-A2CF-477CFF61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2438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99855-AAE3-4E5D-BDB8-175F052A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02｜原子库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881A4-A0A1-4359-8D8D-E1FEBE5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2000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补齐翻转、轴向拉伸、裁切/显现、局部区域进入等高频 primitive；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降低组合 shader 对首轮方向的干扰。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88BDB-6C68-4F6B-BB26-889CEB64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66950"/>
            <a:ext cx="2438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14D18-33A9-401E-8D25-EB0220D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03｜多探针评测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6F131-B078-4BA5-B804-4C907953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2000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用人像、灰阶、颜色、结构图对同一 shader 渲染；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选择最能揭示该类变化的输入，而非固定单图。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284A2-F652-4109-9E62-0846FED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38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B5E57-B8C8-4071-BDE2-3348249A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04｜学习与数据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C8035-E864-429B-BE52-AC546C9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000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积累“目标—计划—代码—渲染—审查”轨迹；</a:t>
            </a:r>
          </a:p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将成功/失败案例用于计划执行器与检索器改进。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0BC9F-576E-4662-8F50-040FB7B3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50B45-615E-4872-9A63-DA676B0C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7"/>
                </a:solidFill>
                <a:latin typeface="Helvetica Neue"/>
                <a:ea typeface="Helvetica Neue"/>
                <a:cs typeface="Helvetica Neue"/>
              </a:rPr>
              <a:t>短期验证：选取空间动态明显的库内视频做自排除消融，以关键时序和区域关系评审，不只看总体分数。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38FC6-BD38-423F-89EB-11AD45A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5616F"/>
                </a:solidFill>
                <a:latin typeface="Helvetica Neue"/>
                <a:ea typeface="Helvetica Neue"/>
                <a:cs typeface="Helvetica Neue"/>
              </a:rPr>
              <a:t>Video-to-Shader · 阶段汇报</a:t>
            </a:r>
          </a:p>
        </p:txBody>
      </p:sp>
    </p:spTree>
    <p:extLst>
      <p:ext uri="{BB962C8B-B14F-4D97-AF65-F5344CB8AC3E}">
        <p14:creationId xmlns:p14="http://schemas.microsoft.com/office/powerpoint/2010/main" val="692082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C768D-FFA4-448F-BA9F-EBF71F7E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FFCFF-D7E2-47A7-AEF3-2A16474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13125-26F6-4DB1-A73B-01AAADA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ED6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ED6D9"/>
                </a:solidFill>
                <a:latin typeface="Helvetica Neue"/>
                <a:ea typeface="Helvetica Neue"/>
                <a:cs typeface="Helvetica Neue"/>
              </a:rPr>
              <a:t>下一阶段目标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28B79-4414-4BE6-AE3C-0BB8FB30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8001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让“看见的差异”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稳定变成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“下一轮真实发生的变化”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DC1CA-8849-4729-87BD-92BC9A0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F70C8-8558-4B38-95CB-A2256694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8E1E8"/>
                </a:solidFill>
                <a:latin typeface="Helvetica Neue"/>
                <a:ea typeface="Helvetica Neue"/>
                <a:cs typeface="Helvetica Neue"/>
              </a:rPr>
              <a:t>优先验证空间变化：翻转、拉伸、局部进入、旋转与覆盖节奏。</a:t>
            </a:r>
          </a:p>
          <a:p xmlns:a="http://schemas.openxmlformats.org/drawingml/2006/main">
            <a:pPr algn="l">
              <a:defRPr sz="1800" b="0">
                <a:solidFill>
                  <a:srgbClr val="D8E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8E1E8"/>
                </a:solidFill>
                <a:latin typeface="Helvetica Neue"/>
                <a:ea typeface="Helvetica Neue"/>
                <a:cs typeface="Helvetica Neue"/>
              </a:rPr>
              <a:t>以可执行计划和渲染合约缩短视觉审查与代码结果之间的断链。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B2044-CDC8-45D2-9AB2-F92DF56B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04900"/>
            <a:ext cx="2324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D8911-B8D6-4CC6-9D19-9DD88FE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ED6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ED6D9"/>
                </a:solidFill>
                <a:latin typeface="Helvetica Neue"/>
                <a:ea typeface="Helvetica Neue"/>
                <a:cs typeface="Helvetica Neue"/>
              </a:rPr>
              <a:t>我们已经具备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F8D0D-943B-4129-8418-35DBECB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1771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可检索库侧 IR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原图 + 视频输入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视觉审查与计划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多轮可运行生成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合成/黑场校验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可回放的实验记录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B7388-449E-4281-888E-69BEE1B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8B4BE"/>
                </a:solidFill>
                <a:latin typeface="Helvetica Neue"/>
                <a:ea typeface="Helvetica Neue"/>
                <a:cs typeface="Helvetica Neue"/>
              </a:rPr>
              <a:t>项目汇报 · Video-to-Shader</a:t>
            </a:r>
          </a:p>
        </p:txBody>
      </p:sp>
    </p:spTree>
    <p:extLst>
      <p:ext uri="{BB962C8B-B14F-4D97-AF65-F5344CB8AC3E}">
        <p14:creationId xmlns:p14="http://schemas.microsoft.com/office/powerpoint/2010/main" val="1745153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2026-07-21T03:32:11.9470000Z</dcterms:created>
  <dcterms:modified xsi:type="dcterms:W3CDTF">2026-07-21T03:32:11.9470000Z</dcterms:modified>
</coreProperties>
</file>